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8b1a965-f4ea-271b-3c64-14a427a7de06}">
          <p14:sldIdLst>
            <p14:sldId id="256"/>
          </p14:sldIdLst>
        </p14:section>
        <p14:section name="Profile" id="{eeaa5151-ea5d-c678-3911-80f2907faa71}">
          <p14:sldIdLst>
            <p14:sldId id="257"/>
          </p14:sldIdLst>
        </p14:section>
        <p14:section name="Skills" id="{9764a506-eb9f-5fb9-3ea3-d4665909de7a}">
          <p14:sldIdLst>
            <p14:sldId id="258"/>
          </p14:sldIdLst>
        </p14:section>
        <p14:section name="Experience" id="{d0c62cf7-d742-d42d-5eed-dbf0667445a7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Education &amp; more" id="{6ce9ba63-f7b1-a9ea-92d5-5b539f1de923}">
          <p14:sldIdLst>
            <p14:sldId id="267"/>
            <p14:sldId id="268"/>
          </p14:sldIdLst>
        </p14:section>
        <p14:section name="Outro" id="{269a909d-bf9a-aa76-fd77-e25afe86b20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1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signrunnerlab/cbff84d3-26cf-54f3-b16f-aed0ee2e60ed/scratchpad/build/runner-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530352"/>
            <a:ext cx="384048" cy="33284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530352"/>
            <a:ext cx="76809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5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1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signrunnerlab/cbff84d3-26cf-54f3-b16f-aed0ee2e60ed/scratchpad/build/runner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530352"/>
            <a:ext cx="384048" cy="33284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530352"/>
            <a:ext cx="76809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50" spc="4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B1B6B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1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303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Curriculum vitae  ·  2026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B1B6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AMSTERDAM, NETHERLANDS</a:t>
            </a:r>
            <a:endParaRPr lang="en-US" sz="950" dirty="0"/>
          </a:p>
        </p:txBody>
      </p:sp>
      <p:pic>
        <p:nvPicPr>
          <p:cNvPr id="4" name="Image 0" descr="/tmp/claude-0/-home-user-designrunnerlab/cbff84d3-26cf-54f3-b16f-aed0ee2e60ed/scratchpad/build/lab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1455" y="1417320"/>
            <a:ext cx="1371600" cy="1333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737360"/>
            <a:ext cx="110944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600" spc="-384" kern="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Rubén Santana</a:t>
            </a:r>
            <a:endParaRPr lang="en-US" sz="96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9600" spc="-384" kern="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Mangorrinha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463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spc="-120" kern="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Lead Product Designer </a:t>
            </a:r>
            <a:pPr algn="l" indent="0" marL="0">
              <a:lnSpc>
                <a:spcPct val="96000"/>
              </a:lnSpc>
              <a:buNone/>
            </a:pPr>
            <a:r>
              <a:rPr lang="en-US" sz="3200" i="1" spc="-30" kern="0" dirty="0">
                <a:solidFill>
                  <a:schemeClr val="bg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Growth, AI &amp; design engineering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21792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4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RUBENSANTANAMANGORRINHA@GMAIL.COM   ·   +351 916 525 749   ·   LINKEDIN.COM/IN/RUBENMANGORRINHA   ·   RUBENMANGORRINHA.COM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B1B6B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303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Professional summary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035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800" spc="-192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14+ years in growth
and product design.
</a:t>
            </a:r>
            <a:pPr algn="l" indent="0" marL="0">
              <a:lnSpc>
                <a:spcPct val="96000"/>
              </a:lnSpc>
              <a:buNone/>
            </a:pPr>
            <a:r>
              <a:rPr lang="en-US" sz="5100" i="1" spc="-48" kern="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Now shipping the prototypes too.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086600" y="1508760"/>
            <a:ext cx="45564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spc="-19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Lead Product Designer with 14+ years building growth and product experiences across SaaS, e-commerce, automotive and enterprise products. Focused on user activation, monetization, identity flows and AI-enabled experiences.
</a:t>
            </a:r>
            <a:pPr indent="0" marL="0">
              <a:lnSpc>
                <a:spcPct val="118000"/>
              </a:lnSpc>
              <a:buNone/>
            </a:pPr>
            <a:r>
              <a:rPr lang="en-US" sz="1550" spc="-19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Recently working as a design engineer, building and shipping interactive prototypes, deploy pipelines and reusable AI-native tooling.
</a:t>
            </a:r>
            <a:pPr indent="0" marL="0">
              <a:lnSpc>
                <a:spcPct val="118000"/>
              </a:lnSpc>
              <a:buNone/>
            </a:pPr>
            <a:r>
              <a:rPr lang="en-US" sz="1550" spc="-19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Has led design at Mermaid Chart, PandaDoc and Miro, and delivered programmes for Toyota, BMW and Farfetch.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86600" y="5074920"/>
            <a:ext cx="45564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5193792"/>
            <a:ext cx="1335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spc="-120" kern="0" dirty="0">
                <a:solidFill>
                  <a:srgbClr val="C31F0D"/>
                </a:solidFill>
              </a:rPr>
              <a:t>14+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5742432"/>
            <a:ext cx="1290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YEARS IN PRODUCT DESIGN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605418" y="5193792"/>
            <a:ext cx="1335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spc="-120" kern="0" dirty="0">
                <a:solidFill>
                  <a:srgbClr val="C31F0D"/>
                </a:solidFill>
              </a:rPr>
              <a:t>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605418" y="5742432"/>
            <a:ext cx="1290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 LEADS: MERMAID CHART, PANDADOC, MIRO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0124237" y="5193792"/>
            <a:ext cx="1335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spc="-120" kern="0" dirty="0">
                <a:solidFill>
                  <a:srgbClr val="C31F0D"/>
                </a:solidFill>
              </a:rPr>
              <a:t>30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0124237" y="5742432"/>
            <a:ext cx="1290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MARKETS SERVED FOR TOYOTA EUROPE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1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303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skills &amp; tools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800" spc="-192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I </a:t>
            </a:r>
            <a:pPr algn="l" indent="0" marL="0">
              <a:lnSpc>
                <a:spcPct val="96000"/>
              </a:lnSpc>
              <a:buNone/>
            </a:pPr>
            <a:r>
              <a:rPr lang="en-US" sz="5100" i="1" spc="-48" kern="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bring</a:t>
            </a:r>
            <a:pPr algn="l" indent="0" marL="0">
              <a:lnSpc>
                <a:spcPct val="96000"/>
              </a:lnSpc>
              <a:buNone/>
            </a:pPr>
            <a:endParaRPr lang="en-US" sz="48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4800" spc="-192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 the table.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303520" y="1463040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0" y="1645920"/>
            <a:ext cx="633953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-40" kern="0" dirty="0">
                <a:solidFill>
                  <a:schemeClr val="tx1"/>
                </a:solidFill>
              </a:rPr>
              <a:t>AI-driven user experience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03520" y="2074672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0" y="2257552"/>
            <a:ext cx="633953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-40" kern="0" dirty="0">
                <a:solidFill>
                  <a:schemeClr val="tx1"/>
                </a:solidFill>
              </a:rPr>
              <a:t>Design engineering and front-end prototyping</a:t>
            </a:r>
            <a:pPr indent="0" marL="0">
              <a:buNone/>
            </a:pPr>
            <a:r>
              <a:rPr lang="en-US" sz="90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HTML · CSS · JavaScript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03520" y="2686304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0" y="2869184"/>
            <a:ext cx="633953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-40" kern="0" dirty="0">
                <a:solidFill>
                  <a:schemeClr val="tx1"/>
                </a:solidFill>
              </a:rPr>
              <a:t>AI-native tooling and MCP integration; prompt design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3520" y="3297936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3480816"/>
            <a:ext cx="633953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-40" kern="0" dirty="0">
                <a:solidFill>
                  <a:schemeClr val="tx1"/>
                </a:solidFill>
              </a:rPr>
              <a:t>Growth design, activation and monetization, product analytics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03520" y="3909568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0" y="4092448"/>
            <a:ext cx="633953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-40" kern="0" dirty="0">
                <a:solidFill>
                  <a:schemeClr val="tx1"/>
                </a:solidFill>
              </a:rPr>
              <a:t>Identity and authentication flows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03520" y="4521200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4704080"/>
            <a:ext cx="633953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-40" kern="0" dirty="0">
                <a:solidFill>
                  <a:schemeClr val="tx1"/>
                </a:solidFill>
              </a:rPr>
              <a:t>Design systems; user research</a:t>
            </a:r>
            <a:pPr indent="0" marL="0">
              <a:buNone/>
            </a:pPr>
            <a:r>
              <a:rPr lang="en-US" sz="90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Qualitative · quantitative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03520" y="5132832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5315712"/>
            <a:ext cx="633953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-40" kern="0" dirty="0">
                <a:solidFill>
                  <a:schemeClr val="tx1"/>
                </a:solidFill>
              </a:rPr>
              <a:t>Cross-functional leadership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03520" y="5744464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983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699516" cy="329184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303520"/>
            <a:ext cx="6995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Figma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57884" y="5303520"/>
            <a:ext cx="777240" cy="329184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57884" y="53035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44852" y="5303520"/>
            <a:ext cx="777240" cy="329184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244852" y="53035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Sketch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31820" y="5303520"/>
            <a:ext cx="1476756" cy="329184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131820" y="5303520"/>
            <a:ext cx="1476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HTML / CSS / JS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742432"/>
            <a:ext cx="777240" cy="329184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74243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435608" y="5742432"/>
            <a:ext cx="777240" cy="329184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435608" y="574243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Cursor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22576" y="5742432"/>
            <a:ext cx="777240" cy="329184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322576" y="574243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9544" y="5742432"/>
            <a:ext cx="932688" cy="329184"/>
          </a:xfrm>
          <a:prstGeom prst="roundRect">
            <a:avLst>
              <a:gd name="adj" fmla="val 50000"/>
            </a:avLst>
          </a:prstGeom>
          <a:ln w="9525">
            <a:solidFill>
              <a:schemeClr val="tx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209544" y="574243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Mixpanel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1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303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Experience  ·  2013 – 2026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48640" y="2331720"/>
            <a:ext cx="11094415" cy="0"/>
          </a:xfrm>
          <a:prstGeom prst="line">
            <a:avLst/>
          </a:prstGeom>
          <a:noFill/>
          <a:ln w="6350">
            <a:solidFill>
              <a:srgbClr val="B1B6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" y="2276856"/>
            <a:ext cx="109728" cy="109728"/>
          </a:xfrm>
          <a:prstGeom prst="ellipse">
            <a:avLst/>
          </a:prstGeom>
          <a:solidFill>
            <a:srgbClr val="E1DDD1"/>
          </a:solidFill>
          <a:ln w="6350">
            <a:solidFill>
              <a:srgbClr val="E1DD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1493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B1B6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2013 – 18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32888"/>
            <a:ext cx="14934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7" kern="0" dirty="0">
                <a:solidFill>
                  <a:srgbClr val="B1B6B0"/>
                </a:solidFill>
              </a:rPr>
              <a:t>Earlier roles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78692" y="2276856"/>
            <a:ext cx="109728" cy="109728"/>
          </a:xfrm>
          <a:prstGeom prst="ellipse">
            <a:avLst/>
          </a:prstGeom>
          <a:solidFill>
            <a:srgbClr val="E1DDD1"/>
          </a:solidFill>
          <a:ln w="6350">
            <a:solidFill>
              <a:srgbClr val="E1DD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3556" y="1874520"/>
            <a:ext cx="1493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B1B6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2018 – 19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133556" y="2532888"/>
            <a:ext cx="14934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7" kern="0" dirty="0">
                <a:solidFill>
                  <a:schemeClr val="bg1"/>
                </a:solidFill>
              </a:rPr>
              <a:t>Critical TechWorks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63609" y="2276856"/>
            <a:ext cx="109728" cy="109728"/>
          </a:xfrm>
          <a:prstGeom prst="ellipse">
            <a:avLst/>
          </a:prstGeom>
          <a:solidFill>
            <a:srgbClr val="E1DDD1"/>
          </a:solidFill>
          <a:ln w="6350">
            <a:solidFill>
              <a:srgbClr val="E1DD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18473" y="1874520"/>
            <a:ext cx="1493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B1B6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2019 – 20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718473" y="2532888"/>
            <a:ext cx="14934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7" kern="0" dirty="0">
                <a:solidFill>
                  <a:schemeClr val="bg1"/>
                </a:solidFill>
              </a:rPr>
              <a:t>Farfetch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48525" y="2276856"/>
            <a:ext cx="109728" cy="109728"/>
          </a:xfrm>
          <a:prstGeom prst="ellipse">
            <a:avLst/>
          </a:prstGeom>
          <a:solidFill>
            <a:srgbClr val="E1DDD1"/>
          </a:solidFill>
          <a:ln w="6350">
            <a:solidFill>
              <a:srgbClr val="E1DD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389" y="1874520"/>
            <a:ext cx="1493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B1B6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2020 – 21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303389" y="2532888"/>
            <a:ext cx="14934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7" kern="0" dirty="0">
                <a:solidFill>
                  <a:schemeClr val="bg1"/>
                </a:solidFill>
              </a:rPr>
              <a:t>AKQA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33442" y="2276856"/>
            <a:ext cx="109728" cy="109728"/>
          </a:xfrm>
          <a:prstGeom prst="ellipse">
            <a:avLst/>
          </a:prstGeom>
          <a:solidFill>
            <a:srgbClr val="E1DDD1"/>
          </a:solidFill>
          <a:ln w="6350">
            <a:solidFill>
              <a:srgbClr val="E1DD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88306" y="1874520"/>
            <a:ext cx="1493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B1B6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2021 – 24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888306" y="2532888"/>
            <a:ext cx="14934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7" kern="0" dirty="0">
                <a:solidFill>
                  <a:schemeClr val="bg1"/>
                </a:solidFill>
              </a:rPr>
              <a:t>Miro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418358" y="2276856"/>
            <a:ext cx="109728" cy="109728"/>
          </a:xfrm>
          <a:prstGeom prst="ellipse">
            <a:avLst/>
          </a:prstGeom>
          <a:solidFill>
            <a:srgbClr val="E1DDD1"/>
          </a:solidFill>
          <a:ln w="6350">
            <a:solidFill>
              <a:srgbClr val="E1DD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73222" y="1874520"/>
            <a:ext cx="1493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B1B6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 – 25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473222" y="2532888"/>
            <a:ext cx="14934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7" kern="0" dirty="0">
                <a:solidFill>
                  <a:schemeClr val="bg1"/>
                </a:solidFill>
              </a:rPr>
              <a:t>PandaDoc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003275" y="2276856"/>
            <a:ext cx="109728" cy="109728"/>
          </a:xfrm>
          <a:prstGeom prst="ellipse">
            <a:avLst/>
          </a:prstGeom>
          <a:solidFill>
            <a:srgbClr val="C31F0D"/>
          </a:solidFill>
          <a:ln w="6350">
            <a:solidFill>
              <a:srgbClr val="C31F0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139" y="1874520"/>
            <a:ext cx="1493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B1B6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 –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0058139" y="2532888"/>
            <a:ext cx="14934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7" kern="0" dirty="0">
                <a:solidFill>
                  <a:schemeClr val="bg1"/>
                </a:solidFill>
              </a:rPr>
              <a:t>Mermaid Chart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84048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400" spc="-256" kern="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Thirteen years.</a:t>
            </a:r>
            <a:endParaRPr lang="en-US" sz="64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6400" spc="-256" kern="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One through-line: </a:t>
            </a:r>
            <a:endParaRPr lang="en-US" sz="64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6800" i="1" spc="-64" kern="0" dirty="0">
                <a:solidFill>
                  <a:schemeClr val="bg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growth.</a:t>
            </a:r>
            <a:endParaRPr lang="en-US" sz="6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B1B6B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303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Mermaid Chart  ·  Remote  ·  June 2025 – Present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06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800" spc="-152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Lead Product Designer,</a:t>
            </a:r>
            <a:endParaRPr lang="en-US" sz="38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3800" spc="-152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Growth &amp; AI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i="1" dirty="0">
                <a:solidFill>
                  <a:srgbClr val="C31F0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Mermaid Chart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0" y="1463040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0" y="1600200"/>
            <a:ext cx="6156655" cy="798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Lead product design across AI, dashboard, community and growth, to raise activation and average revenue per new subscription; directly manage a designer covering plugins and integrations.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0" y="2518029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2655189"/>
            <a:ext cx="6156655" cy="798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2026 focus on design engineering: shipping interactive, coded prototypes (HTML, CSS, JavaScript) to live URLs for stakeholder review and usability testing.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0" y="3573018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0" y="3710178"/>
            <a:ext cx="6156655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Designed “Skills as the New Templates”, an MCP-integrated concept where reusable context bundles shape how AI generates diagrams.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0" y="4373880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0" y="4511040"/>
            <a:ext cx="6156655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Built a library of reusable internal skills and a GitHub-based concept-to-live-prototype deploy pipeline.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0" y="5174742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5311902"/>
            <a:ext cx="6156655" cy="798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Ground activation, onboarding and pricing decisions in product analytics (Mixpanel); own initiatives end to end and maintain the design system.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0" y="6229731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1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303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PandaDoc  ·  Remote  ·  December 2024 – June 2025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800" spc="-152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Staff Product Designer, Growth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i="1" dirty="0">
                <a:solidFill>
                  <a:srgbClr val="C31F0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PandaDoc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0" y="1463040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0" y="1664208"/>
            <a:ext cx="6156655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Led end-to-end design for a significant part of the product, from concept and prototyping to high-fidelity delivery.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0" y="2391918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2593086"/>
            <a:ext cx="6156655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Set design direction and standards for the product area, using design-system best practices.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0" y="3320796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0" y="3521964"/>
            <a:ext cx="6156655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Designed AI-generated experiences that help users create their first workflow, template and documents.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0" y="4249674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0" y="4450842"/>
            <a:ext cx="6156655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Championed usability and accessibility; planned and ran qualitative and quantitative research.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0" y="5178552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1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303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Miro  ·  Amsterdam  ·  September 2021 – November 2024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400" spc="-136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Digital Design Manager, Growth / Senior Digital Growth Designer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i="1" dirty="0">
                <a:solidFill>
                  <a:srgbClr val="C31F0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Miro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0" y="1463040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0" y="1664208"/>
            <a:ext cx="6156655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Owned the full user-identity journey: sign-in, sign-up, onboarding, user profile, authentication methods and settings.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0" y="2391918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2593086"/>
            <a:ext cx="6156655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Formed hypotheses with product managers, designed solutions, measured success and iterated across growth initiatives.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0" y="3320796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0" y="3521964"/>
            <a:ext cx="6156655" cy="798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Researched users and the competitive landscape; partnered with developers on implementation. Helped grow the design team through process and mentorship.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0" y="4503801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1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303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AKQA  ·  Amsterdam  ·  December 2020 – September 2021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800" spc="-152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Senior Digital Product Designer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i="1" dirty="0">
                <a:solidFill>
                  <a:srgbClr val="C31F0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AKQA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0" y="1463040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0" y="1664208"/>
            <a:ext cx="6156655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Led design on the customer-care vertical for Toyota Europe across 30 markets, working with four feature development teams.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0" y="2391918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2593086"/>
            <a:ext cx="6156655" cy="798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Translated user problems and data into solutions that met owner needs and business requirements; aligned cross-channel experience with other verticals.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0" y="3574923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1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303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Farfetch  ·  Lisbon  ·  August 2019 – December 2020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800" spc="-152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Digital Product Designer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i="1" dirty="0">
                <a:solidFill>
                  <a:srgbClr val="C31F0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Farfetch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0" y="1463040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0" y="1664208"/>
            <a:ext cx="6156655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Designed the luxury-fashion e-commerce experience across app and web (inspiration; acquisition &amp; engagement).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0" y="2391918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2593086"/>
            <a:ext cx="6156655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Facilitated a user-segmentation governance workshop with 30+ participants; led the global iOS homepage component redesign.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0" y="3320796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0" y="3521964"/>
            <a:ext cx="6156655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Iterated UI through user testing and introduced proactive feedback systems.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0" y="4249674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1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303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Critical TechWorks  ·  Lisbon  ·  December 2018 – August 2019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06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800" spc="-152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UX Designer (BMW Group)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i="1" dirty="0">
                <a:solidFill>
                  <a:srgbClr val="C31F0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Critical TechWorks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0" y="1463040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0" y="1664208"/>
            <a:ext cx="6156655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Improved the innovation and funding process for the BMW innovation centre, which evaluates around 1,000 ideas a year.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0" y="2391918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2593086"/>
            <a:ext cx="6156655" cy="798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Led collaboration with BMW's Munich innovation lab on B2B internal tools; ran design sprints and MVP launches within five months that improved 80% of the funding process.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0" y="3574923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0" y="3776091"/>
            <a:ext cx="6156655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Conducted field interviews and user testing; mentored 11 designers on the tooling-UI process.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0" y="4503801"/>
            <a:ext cx="615665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1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303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Teaching &amp; earlier roles  ·  2013 – 2020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400" spc="-176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Teaching, and</a:t>
            </a:r>
            <a:endParaRPr lang="en-US" sz="44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4400" spc="-176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where it </a:t>
            </a:r>
            <a:endParaRPr lang="en-US" sz="44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4700" i="1" spc="-44" kern="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started.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LISBON, PORTUGAL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0" y="1371600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0" y="1472184"/>
            <a:ext cx="633953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-40" kern="0" dirty="0">
                <a:solidFill>
                  <a:schemeClr val="tx1"/>
                </a:solidFill>
              </a:rPr>
              <a:t>EDIT – Disruptive Digital Education</a:t>
            </a:r>
            <a:pPr indent="0" marL="0">
              <a:buNone/>
            </a:pPr>
            <a:r>
              <a:rPr lang="en-US" sz="90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Workshop instructor · 2018 – 2020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736344"/>
            <a:ext cx="6339535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Planned and delivered hands-on product-design workshops for groups of around 8 professionals, covering discovery through delivery.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2345944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0" y="2446528"/>
            <a:ext cx="633953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-40" kern="0" dirty="0">
                <a:solidFill>
                  <a:schemeClr val="tx1"/>
                </a:solidFill>
              </a:rPr>
              <a:t>comOn Group</a:t>
            </a:r>
            <a:pPr indent="0" marL="0">
              <a:buNone/>
            </a:pPr>
            <a:r>
              <a:rPr lang="en-US" sz="90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2018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2710688"/>
            <a:ext cx="6339535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Insurance and investment-banking clients (Fidelidade, Bankinvest); a service blueprint surfaced 40% of pain points.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0" y="3320288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0" y="3420872"/>
            <a:ext cx="633953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-40" kern="0" dirty="0">
                <a:solidFill>
                  <a:schemeClr val="tx1"/>
                </a:solidFill>
              </a:rPr>
              <a:t>NOSSA</a:t>
            </a:r>
            <a:pPr indent="0" marL="0">
              <a:buNone/>
            </a:pPr>
            <a:r>
              <a:rPr lang="en-US" sz="90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2016 – 2018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3685032"/>
            <a:ext cx="6339535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30+ websites and apps; grew the digital team from 2 to 6; delivered the UNICEF local-market site (33% increase in donations) and L'Oréal's flagship interactive table.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03520" y="4539996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4640580"/>
            <a:ext cx="633953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-40" kern="0" dirty="0">
                <a:solidFill>
                  <a:schemeClr val="tx1"/>
                </a:solidFill>
              </a:rPr>
              <a:t>Tux&amp;Gill</a:t>
            </a:r>
            <a:pPr indent="0" marL="0">
              <a:buNone/>
            </a:pPr>
            <a:r>
              <a:rPr lang="en-US" sz="90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2014 – 2016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4904740"/>
            <a:ext cx="6339535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Banking-product interfaces and story-driven interactive prototypes.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03520" y="5268976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0" y="5369560"/>
            <a:ext cx="633953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-40" kern="0" dirty="0">
                <a:solidFill>
                  <a:schemeClr val="tx1"/>
                </a:solidFill>
              </a:rPr>
              <a:t>Leo Burnett, MUSTARD, AWD</a:t>
            </a:r>
            <a:pPr indent="0" marL="0">
              <a:buNone/>
            </a:pPr>
            <a:r>
              <a:rPr lang="en-US" sz="90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2013 – 2014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5633720"/>
            <a:ext cx="6339535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creative and digital design for Garnier, Samsung, Volvo and FOX.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03520" y="5997956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1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303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Education &amp; professional development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800" spc="-192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Always
</a:t>
            </a:r>
            <a:pPr algn="l" indent="0" marL="0">
              <a:lnSpc>
                <a:spcPct val="96000"/>
              </a:lnSpc>
              <a:buNone/>
            </a:pPr>
            <a:r>
              <a:rPr lang="en-US" sz="5100" i="1" spc="-48" kern="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learning.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303520" y="1463040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0" y="1600200"/>
            <a:ext cx="6339535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spc="-43" kern="0" dirty="0">
                <a:solidFill>
                  <a:schemeClr val="tx1"/>
                </a:solidFill>
              </a:rPr>
              <a:t>Reforge</a:t>
            </a:r>
            <a:pPr indent="0" marL="0">
              <a:buNone/>
            </a:pPr>
            <a:r>
              <a:rPr lang="en-US" sz="90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2026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1880870"/>
            <a:ext cx="6339535" cy="290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 Growth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303520" y="2290445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0" y="2427605"/>
            <a:ext cx="6339535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spc="-43" kern="0" dirty="0">
                <a:solidFill>
                  <a:schemeClr val="tx1"/>
                </a:solidFill>
              </a:rPr>
              <a:t>Reforge</a:t>
            </a:r>
            <a:pPr indent="0" marL="0">
              <a:buNone/>
            </a:pPr>
            <a:r>
              <a:rPr lang="en-US" sz="90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2024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2708275"/>
            <a:ext cx="6339535" cy="290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Driving Growth with User Psychology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303520" y="3117850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3255010"/>
            <a:ext cx="6339535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spc="-43" kern="0" dirty="0">
                <a:solidFill>
                  <a:schemeClr val="tx1"/>
                </a:solidFill>
              </a:rPr>
              <a:t>Interaction Design Foundation</a:t>
            </a:r>
            <a:pPr indent="0" marL="0">
              <a:buNone/>
            </a:pPr>
            <a:r>
              <a:rPr lang="en-US" sz="90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2018 – 2019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3535680"/>
            <a:ext cx="6339535" cy="290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User Research, Methods and Best Practices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303520" y="3945255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4082415"/>
            <a:ext cx="6339535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spc="-43" kern="0" dirty="0">
                <a:solidFill>
                  <a:schemeClr val="tx1"/>
                </a:solidFill>
              </a:rPr>
              <a:t>Interaction Design Foundation</a:t>
            </a:r>
            <a:pPr indent="0" marL="0">
              <a:buNone/>
            </a:pPr>
            <a:r>
              <a:rPr lang="en-US" sz="90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2018 – 2019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4363085"/>
            <a:ext cx="6339535" cy="290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Design for Augmented and Virtual Reality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303520" y="4772660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4909820"/>
            <a:ext cx="6339535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spc="-43" kern="0" dirty="0">
                <a:solidFill>
                  <a:schemeClr val="tx1"/>
                </a:solidFill>
              </a:rPr>
              <a:t>Interaction Design Foundation</a:t>
            </a:r>
            <a:pPr indent="0" marL="0">
              <a:buNone/>
            </a:pPr>
            <a:r>
              <a:rPr lang="en-US" sz="90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2019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5190490"/>
            <a:ext cx="6339535" cy="290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User Experience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303520" y="5600065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1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303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Awards &amp; languages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800" spc="-192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Recognised
</a:t>
            </a:r>
            <a:pPr algn="l" indent="0" marL="0">
              <a:lnSpc>
                <a:spcPct val="96000"/>
              </a:lnSpc>
              <a:buNone/>
            </a:pPr>
            <a:r>
              <a:rPr lang="en-US" sz="5100" i="1" spc="-48" kern="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along the way.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30352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AWARDS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0" y="1463040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0" y="1600200"/>
            <a:ext cx="6339535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spc="-43" kern="0" dirty="0">
                <a:solidFill>
                  <a:schemeClr val="tx1"/>
                </a:solidFill>
              </a:rPr>
              <a:t>Young Lions 2017, Digital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880870"/>
            <a:ext cx="6339535" cy="290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2nd place, High Potential, Shortlisted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03520" y="2290445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0" y="2427605"/>
            <a:ext cx="6339535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spc="-43" kern="0" dirty="0">
                <a:solidFill>
                  <a:schemeClr val="tx1"/>
                </a:solidFill>
              </a:rPr>
              <a:t>Auto Promotion Design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2708275"/>
            <a:ext cx="6339535" cy="290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spc="-17" kern="0" dirty="0">
                <a:solidFill>
                  <a:schemeClr val="tx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Bronze, Honorable Mention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0" y="3117850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0" y="366649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LANGUAGES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0" y="3940810"/>
            <a:ext cx="6339535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4077970"/>
            <a:ext cx="1930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60" kern="0" dirty="0">
                <a:solidFill>
                  <a:schemeClr val="tx1"/>
                </a:solidFill>
              </a:rPr>
              <a:t>Portuguese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4489450"/>
            <a:ext cx="1930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NATIVE / BILINGUAL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416698" y="4077970"/>
            <a:ext cx="1930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60" kern="0" dirty="0">
                <a:solidFill>
                  <a:schemeClr val="tx1"/>
                </a:solidFill>
              </a:rPr>
              <a:t>English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416698" y="4489450"/>
            <a:ext cx="1930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PROFESSIONAL WORKING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529877" y="4077970"/>
            <a:ext cx="1930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60" kern="0" dirty="0">
                <a:solidFill>
                  <a:schemeClr val="tx1"/>
                </a:solidFill>
              </a:rPr>
              <a:t>Spanish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529877" y="4489450"/>
            <a:ext cx="1930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rgbClr val="6F71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LIMITED WORKING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F71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303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 in touch</a:t>
            </a:r>
            <a:endParaRPr lang="en-US" sz="950" dirty="0"/>
          </a:p>
        </p:txBody>
      </p:sp>
      <p:pic>
        <p:nvPicPr>
          <p:cNvPr id="3" name="Image 0" descr="/tmp/claude-0/-home-user-designrunnerlab/cbff84d3-26cf-54f3-b16f-aed0ee2e60ed/scratchpad/build/lab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371600"/>
            <a:ext cx="3108960" cy="30211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200" spc="-288" kern="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Let's build</a:t>
            </a:r>
            <a:endParaRPr lang="en-US" sz="72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7200" spc="-288" kern="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something </a:t>
            </a:r>
            <a:endParaRPr lang="en-US" sz="72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7600" i="1" spc="-72" kern="0" dirty="0">
                <a:solidFill>
                  <a:schemeClr val="bg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together.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548640" y="5029200"/>
            <a:ext cx="7863840" cy="0"/>
          </a:xfrm>
          <a:prstGeom prst="line">
            <a:avLst/>
          </a:prstGeom>
          <a:noFill/>
          <a:ln w="6350">
            <a:solidFill>
              <a:srgbClr val="B1B6B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120640"/>
            <a:ext cx="78638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7" kern="0" dirty="0">
                <a:solidFill>
                  <a:schemeClr val="bg1"/>
                </a:solidFill>
              </a:rPr>
              <a:t>rubensantanamangorrinha@gmail.com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5441442"/>
            <a:ext cx="7863840" cy="0"/>
          </a:xfrm>
          <a:prstGeom prst="line">
            <a:avLst/>
          </a:prstGeom>
          <a:noFill/>
          <a:ln w="6350">
            <a:solidFill>
              <a:srgbClr val="B1B6B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532882"/>
            <a:ext cx="78638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7" kern="0" dirty="0">
                <a:solidFill>
                  <a:schemeClr val="bg1"/>
                </a:solidFill>
              </a:rPr>
              <a:t>+351 916 525 749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5853684"/>
            <a:ext cx="7863840" cy="0"/>
          </a:xfrm>
          <a:prstGeom prst="line">
            <a:avLst/>
          </a:prstGeom>
          <a:noFill/>
          <a:ln w="6350">
            <a:solidFill>
              <a:srgbClr val="B1B6B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5945124"/>
            <a:ext cx="78638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-37" kern="0" dirty="0">
                <a:solidFill>
                  <a:schemeClr val="bg1"/>
                </a:solidFill>
              </a:rPr>
              <a:t>linkedin.com/in/rubenmangorrinha  ·  rubenmangorrinha.com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6265926"/>
            <a:ext cx="7863840" cy="0"/>
          </a:xfrm>
          <a:prstGeom prst="line">
            <a:avLst/>
          </a:prstGeom>
          <a:noFill/>
          <a:ln w="6350">
            <a:solidFill>
              <a:srgbClr val="B1B6B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17920"/>
            <a:ext cx="8229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B1B6B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runner lab">
  <a:themeElements>
    <a:clrScheme name="design runner lab">
      <a:dk1>
        <a:srgbClr val="1E1E1E"/>
      </a:dk1>
      <a:lt1>
        <a:srgbClr val="E1DDD1"/>
      </a:lt1>
      <a:dk2>
        <a:srgbClr val="6F716B"/>
      </a:dk2>
      <a:lt2>
        <a:srgbClr val="FFFFFF"/>
      </a:lt2>
      <a:accent1>
        <a:srgbClr val="C31F0D"/>
      </a:accent1>
      <a:accent2>
        <a:srgbClr val="250DC3"/>
      </a:accent2>
      <a:accent3>
        <a:srgbClr val="B1B6B0"/>
      </a:accent3>
      <a:accent4>
        <a:srgbClr val="F0C4BD"/>
      </a:accent4>
      <a:accent5>
        <a:srgbClr val="B9B2EE"/>
      </a:accent5>
      <a:accent6>
        <a:srgbClr val="2A2A2D"/>
      </a:accent6>
      <a:hlink>
        <a:srgbClr val="250DC3"/>
      </a:hlink>
      <a:folHlink>
        <a:srgbClr val="6F716B"/>
      </a:folHlink>
    </a:clrScheme>
    <a:fontScheme name="design runner lab">
      <a:majorFont>
        <a:latin typeface="Instrument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strument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Rubén Santana Mangorrinha, CV</dc:title>
  <dc:subject>PptxGenJS Presentation</dc:subject>
  <dc:creator>Rubén Santana Mangorrinha</dc:creator>
  <cp:lastModifiedBy>Rubén Santana Mangorrinha</cp:lastModifiedBy>
  <cp:revision>1</cp:revision>
  <dcterms:created xsi:type="dcterms:W3CDTF">2026-10-26T11:10:40Z</dcterms:created>
  <dcterms:modified xsi:type="dcterms:W3CDTF">2026-10-26T11:10:40Z</dcterms:modified>
</cp:coreProperties>
</file>